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Montserra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6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-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-bold.fntdata"/><Relationship Id="rId12" Type="http://schemas.openxmlformats.org/officeDocument/2006/relationships/slide" Target="slides/slide7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c613c4f37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ec613c4f3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g1ec613c4f3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ec613c4f37_0_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1ec613c4f37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1ec613c4f37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5f2b5097_0_10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c65f2b5097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3c65f2b5097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0e19beefb_0_44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0e19beefb_0_4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f0e19beefb_0_4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0e19beefb_0_3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0e19beefb_0_3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f0e19beefb_0_3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0e19beefb_0_45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0e19beefb_0_4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f0e19beefb_0_4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0e19beefb_0_46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0e19beefb_0_4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0e19beefb_0_4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e19beefb_0_48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0e19beefb_0_4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f0e19beefb_0_4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ffa7740a_0_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0ffa7740a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f0ffa7740a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0ffa7740a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0ffa7740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f0ffa7740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0e19beefb_0_34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0e19beefb_0_3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g3f0e19beefb_0_3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0e19beefb_0_49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0e19beefb_0_4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g3f0e19beefb_0_4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0e19beefb_0_53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0e19beefb_0_5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g3f0e19beefb_0_5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0e19beefb_0_57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0e19beefb_0_5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3f0e19beefb_0_5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0e19beefb_0_54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0e19beefb_0_5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g3f0e19beefb_0_5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19beefb_0_33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0e19beefb_0_3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g3f0e19beefb_0_3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0e19beefb_0_56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0e19beefb_0_5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f0e19beefb_0_5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0e19beefb_0_37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0e19beefb_0_3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f0e19beefb_0_3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0e19beefb_0_59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0e19beefb_0_5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f0e19beefb_0_5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0e19beefb_0_60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0e19beefb_0_6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g3f0e19beefb_0_6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0e19beefb_0_6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0e19beefb_0_6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3f0e19beefb_0_6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0e19beefb_0_38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0e19beefb_0_3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3f0e19beefb_0_3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0e9749e7f_0_1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0e9749e7f_0_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3f0e9749e7f_0_1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0e19beefb_0_64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0e19beefb_0_6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3f0e19beefb_0_6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0e19beefb_0_68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0e19beefb_0_6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g3f0e19beefb_0_6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0e19beefb_0_65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f0e19beefb_0_6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f0e19beefb_0_6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0e9749e7f_0_14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0e9749e7f_0_1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g3f0e9749e7f_0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0e19beefb_0_69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f0e19beefb_0_6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g3f0e19beefb_0_6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0e9749e7f_0_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0e9749e7f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g3f0e9749e7f_0_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10207743c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10207743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f10207743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0e9749e7f_0_15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f0e9749e7f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g3f0e9749e7f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0e9749e7f_0_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f0e9749e7f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g3f0e9749e7f_0_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0e9749e7f_0_2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0e9749e7f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g3f0e9749e7f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0e9749e7f_0_16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0e9749e7f_0_1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g3f0e9749e7f_0_1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0e9749e7f_0_4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0e9749e7f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f0e9749e7f_0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0e9749e7f_0_5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0e9749e7f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f0e9749e7f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0e9749e7f_0_6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f0e9749e7f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f0e9749e7f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0e9749e7f_0_17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0e9749e7f_0_1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g3f0e9749e7f_0_1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0e9749e7f_0_7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g3f0e9749e7f_0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f0e9749e7f_0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0e9749e7f_0_1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0e9749e7f_0_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g3f0e9749e7f_0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0e9749e7f_0_9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0e9749e7f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3" name="Google Shape;563;g3f0e9749e7f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0e9749e7f_0_1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0e9749e7f_0_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g3f0e9749e7f_0_1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0e9749e7f_0_10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f0e9749e7f_0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g3f0e9749e7f_0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0e19beefb_0_4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0e19beefb_0_4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g3f0e19beefb_0_4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c750382840_1_73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c750382840_1_7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g3c750382840_1_7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0e19beefb_0_4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0e19beefb_0_4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g3f0e19beefb_0_4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testo e contenuto" type="txAndObj">
  <p:cSld name="TEXT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116013" y="1752600"/>
            <a:ext cx="370363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4972050" y="1752600"/>
            <a:ext cx="37036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</a:t>
            </a:r>
            <a:r>
              <a:rPr lang="it-IT"/>
              <a:t> </a:t>
            </a: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abella" type="tbl">
  <p:cSld name="TAB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grafico" type="chart">
  <p:cSld name="CHAR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/>
          <p:nvPr>
            <p:ph idx="2" type="chart"/>
          </p:nvPr>
        </p:nvSpPr>
        <p:spPr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1116013" y="1752600"/>
            <a:ext cx="370363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4972050" y="1752600"/>
            <a:ext cx="37036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2" name="Google Shape;82;p1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 rot="5400000">
            <a:off x="2838451" y="30163"/>
            <a:ext cx="4114800" cy="75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 rot="5400000">
            <a:off x="5002213" y="2193925"/>
            <a:ext cx="5457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 rot="5400000">
            <a:off x="1146176" y="379413"/>
            <a:ext cx="5457825" cy="551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1" name="Google Shape;11;p1"/>
            <p:cNvSpPr/>
            <p:nvPr/>
          </p:nvSpPr>
          <p:spPr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"/>
          <p:cNvSpPr txBox="1"/>
          <p:nvPr>
            <p:ph type="title"/>
          </p:nvPr>
        </p:nvSpPr>
        <p:spPr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822433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Pagina </a:t>
            </a: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>
            <p:ph type="ctrTitle"/>
          </p:nvPr>
        </p:nvSpPr>
        <p:spPr>
          <a:xfrm>
            <a:off x="643725" y="450167"/>
            <a:ext cx="7755900" cy="20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Joint Detection of AI-Generated Images and Post-Processing Alterations in Real-World Scenarios</a:t>
            </a:r>
            <a:endParaRPr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0" y="2759075"/>
            <a:ext cx="9146025" cy="4098798"/>
            <a:chOff x="0" y="1738"/>
            <a:chExt cx="5761" cy="2582"/>
          </a:xfrm>
        </p:grpSpPr>
        <p:pic>
          <p:nvPicPr>
            <p:cNvPr descr="Fondino" id="113" name="Google Shape;11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158"/>
              <a:ext cx="5761" cy="21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go +marchio" id="114" name="Google Shape;11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60"/>
              <a:ext cx="5760" cy="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ascia" id="115" name="Google Shape;11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16" y="1738"/>
              <a:ext cx="4443" cy="4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6"/>
          <p:cNvSpPr txBox="1"/>
          <p:nvPr/>
        </p:nvSpPr>
        <p:spPr>
          <a:xfrm>
            <a:off x="1496800" y="4809475"/>
            <a:ext cx="795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it-IT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ourse: Computer Vision A.Y. 2025/2026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Project by: Luca Del Signore 2096442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Outline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1116000" y="1769346"/>
            <a:ext cx="7342200" cy="3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Problem statement</a:t>
            </a:r>
            <a:r>
              <a:rPr lang="it-IT" sz="2000"/>
              <a:t>: Why detecting AI-generated images after transformations is relevant.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State of the Art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Proposed Method</a:t>
            </a:r>
            <a:r>
              <a:rPr lang="it-IT" sz="2000"/>
              <a:t>: Extension of DRCTConvB with frequency-domain information and multi-head joint learning.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Dataset: </a:t>
            </a:r>
            <a:r>
              <a:rPr lang="it-IT" sz="2000"/>
              <a:t>A balanced subset of RRDataset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Experimental Setup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Model Evaluation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Conclusion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References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2407650" y="2065175"/>
            <a:ext cx="43287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843075" y="450000"/>
            <a:ext cx="76899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Why the necessity of detecting post-processing AI-images?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843075" y="2581954"/>
            <a:ext cx="7615200" cy="30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AI-Generated Image detectors are usually trained and evaluated in idealized conditions.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In real-world scenarios, images are commonly compressed and </a:t>
            </a:r>
            <a:r>
              <a:rPr lang="it-IT" sz="2000"/>
              <a:t>transformed</a:t>
            </a:r>
            <a:r>
              <a:rPr lang="it-IT" sz="2000"/>
              <a:t> by social media platforms.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These transformations can alter image patterns and introduce artifacts, leading the detectors in error.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This is especially critical for AI-generated fake images intended to influence public opinion.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2961150" y="2065175"/>
            <a:ext cx="3221700" cy="17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State of the Art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RRDataset/RRBench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116000" y="1215400"/>
            <a:ext cx="7238700" cy="2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A </a:t>
            </a:r>
            <a:r>
              <a:rPr lang="it-IT" sz="2000"/>
              <a:t>benchmark</a:t>
            </a:r>
            <a:r>
              <a:rPr lang="it-IT" sz="2000"/>
              <a:t> containing images with different transformation categories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Several state-of-the-art AI-detectors were fine-tuned on this dataset by authors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 benchmark shows that post-processing transformations can significantly reduce real/fake detection performances.</a:t>
            </a:r>
            <a:endParaRPr sz="2000"/>
          </a:p>
        </p:txBody>
      </p:sp>
      <p:pic>
        <p:nvPicPr>
          <p:cNvPr id="170" name="Google Shape;170;p21" title="Schermata del 2026-07-05 19-49-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3613550"/>
            <a:ext cx="7135501" cy="23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DRCTConvBase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1116000" y="1525604"/>
            <a:ext cx="7061700" cy="24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DRCT improves AI-generated image detection through diffusion reconstruction and contrastive training.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DRCTConvB was reported as the strongest detector among the considered models when fine-tuned and used in real world scenario.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However, its performance still drops under re-digitalization </a:t>
            </a:r>
            <a:r>
              <a:rPr lang="it-IT" sz="2000"/>
              <a:t>transformations</a:t>
            </a:r>
            <a:r>
              <a:rPr lang="it-IT" sz="2000"/>
              <a:t>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pic>
        <p:nvPicPr>
          <p:cNvPr id="182" name="Google Shape;182;p22" title="redigitaliz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87000"/>
            <a:ext cx="9143998" cy="1153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/>
          <p:nvPr/>
        </p:nvSpPr>
        <p:spPr>
          <a:xfrm>
            <a:off x="5723121" y="5223666"/>
            <a:ext cx="1421400" cy="416700"/>
          </a:xfrm>
          <a:prstGeom prst="ellipse">
            <a:avLst/>
          </a:prstGeom>
          <a:noFill/>
          <a:ln cap="flat" cmpd="sng" w="89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475" lIns="107475" spcFirstLastPara="1" rIns="107475" wrap="square" tIns="10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6"/>
          </a:p>
        </p:txBody>
      </p:sp>
      <p:sp>
        <p:nvSpPr>
          <p:cNvPr id="184" name="Google Shape;184;p22"/>
          <p:cNvSpPr txBox="1"/>
          <p:nvPr/>
        </p:nvSpPr>
        <p:spPr>
          <a:xfrm>
            <a:off x="5407800" y="411517"/>
            <a:ext cx="37362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4000"/>
              <a:t>(</a:t>
            </a:r>
            <a:r>
              <a:rPr b="1" lang="it-IT" sz="4000"/>
              <a:t>Our Baseline)</a:t>
            </a:r>
            <a:endParaRPr b="1"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192" name="Google Shape;192;p2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ConvNeXt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1116000" y="2035808"/>
            <a:ext cx="3903900" cy="27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DRCTConvB is based on the ConvNeXt family.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They modernize ResNet CNNs by including and adapting design choices and ideas inspired by Vision Transformers, while preserving the simplicity of convolutional networks.</a:t>
            </a:r>
            <a:endParaRPr sz="2000"/>
          </a:p>
        </p:txBody>
      </p:sp>
      <p:pic>
        <p:nvPicPr>
          <p:cNvPr id="196" name="Google Shape;196;p23" title="Base_Model_center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540" y="630249"/>
            <a:ext cx="2342114" cy="526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3" name="Google Shape;203;p2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04" name="Google Shape;204;p2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SPAI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4"/>
          <p:cNvSpPr txBox="1"/>
          <p:nvPr/>
        </p:nvSpPr>
        <p:spPr>
          <a:xfrm>
            <a:off x="1116000" y="1315100"/>
            <a:ext cx="74169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SPAI models the spectral distribution of real images and detects AI-generated images when the spectrum is out-of-distribution.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This supports the idea that frequency-domain representations can capture artifacts not easily visible in the RGB domain.</a:t>
            </a:r>
            <a:endParaRPr sz="2000"/>
          </a:p>
        </p:txBody>
      </p:sp>
      <p:pic>
        <p:nvPicPr>
          <p:cNvPr id="208" name="Google Shape;208;p24" title="SP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6101" y="3004700"/>
            <a:ext cx="3456700" cy="291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MCNet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1116000" y="1315100"/>
            <a:ext cx="7342200" cy="24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Image forensics has also studied the classification of post-processing operations.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MCNet classifies JPEG image manipulations by combining spatial, frequency, and compression-domain features.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However, this line of work focuses on manipulation classification, not on jointly predicting AI/real class and transformation category.</a:t>
            </a:r>
            <a:endParaRPr sz="2000"/>
          </a:p>
        </p:txBody>
      </p:sp>
      <p:pic>
        <p:nvPicPr>
          <p:cNvPr id="220" name="Google Shape;220;p25" title="MCN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10400"/>
            <a:ext cx="9094750" cy="17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6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 txBox="1"/>
          <p:nvPr>
            <p:ph type="title"/>
          </p:nvPr>
        </p:nvSpPr>
        <p:spPr>
          <a:xfrm>
            <a:off x="2407650" y="2065175"/>
            <a:ext cx="43287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Proposed Method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7" name="Google Shape;237;p2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Base Idea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1116000" y="1902295"/>
            <a:ext cx="73422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Instead of relying only on RGB spatial features, we add an initial parallel DFT Stem branch to DRCTConvB in order to use frequency-domain informations. We named it </a:t>
            </a:r>
            <a:r>
              <a:rPr lang="it-IT" sz="2000">
                <a:solidFill>
                  <a:srgbClr val="0969DA"/>
                </a:solidFill>
              </a:rPr>
              <a:t>DRCTConvB-DFT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Some post-processing transformations and AI-generations can leave detectable traces in the frequency spectrum (acting like a low-pass or high-pass filter).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Explore a multi-task extension of the model that jointly predicts image authenticity and transformation category.</a:t>
            </a:r>
            <a:endParaRPr sz="2000">
              <a:solidFill>
                <a:srgbClr val="0969DA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49" name="Google Shape;249;p2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DRCTConvBase-DFT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28" title="DFT_model_center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250" y="1120400"/>
            <a:ext cx="4395924" cy="493217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4973175" y="1658554"/>
            <a:ext cx="3559800" cy="3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The added blocks are marked in green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A radial map, that is an image </a:t>
            </a:r>
            <a:r>
              <a:rPr lang="it-IT" sz="2000"/>
              <a:t>containing in each pixel</a:t>
            </a:r>
            <a:r>
              <a:rPr lang="it-IT" sz="2000"/>
              <a:t> the normalized distance from the center, is concatenated channel-wise with the DFT amplitude, in order to help the CNN distinguish low and high-frequency regions.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2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61" name="Google Shape;261;p2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62" name="Google Shape;262;p29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Terminology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0" y="1315100"/>
            <a:ext cx="91440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65" name="Google Shape;265;p29" title="Revised_tas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03300"/>
            <a:ext cx="8839203" cy="1525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p3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73" name="Google Shape;273;p3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74" name="Google Shape;274;p30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Combined Loss Function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6" name="Google Shape;276;p30" title="CEno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525" y="1608375"/>
            <a:ext cx="3548959" cy="119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 title="CE_norm1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200" y="3285438"/>
            <a:ext cx="1707804" cy="36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0" title="Combined_lo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75" y="4725350"/>
            <a:ext cx="9054225" cy="12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 txBox="1"/>
          <p:nvPr/>
        </p:nvSpPr>
        <p:spPr>
          <a:xfrm>
            <a:off x="1116000" y="1159992"/>
            <a:ext cx="73422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Normalize each task loss by its own uniform probability prediction error with K classes:</a:t>
            </a:r>
            <a:endParaRPr sz="2000"/>
          </a:p>
        </p:txBody>
      </p:sp>
      <p:sp>
        <p:nvSpPr>
          <p:cNvPr id="280" name="Google Shape;280;p30"/>
          <p:cNvSpPr txBox="1"/>
          <p:nvPr/>
        </p:nvSpPr>
        <p:spPr>
          <a:xfrm>
            <a:off x="1116000" y="2763771"/>
            <a:ext cx="7260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With this normalization, a model with uniform prediction gives:</a:t>
            </a:r>
            <a:endParaRPr sz="2000"/>
          </a:p>
        </p:txBody>
      </p:sp>
      <p:sp>
        <p:nvSpPr>
          <p:cNvPr id="281" name="Google Shape;281;p30"/>
          <p:cNvSpPr txBox="1"/>
          <p:nvPr/>
        </p:nvSpPr>
        <p:spPr>
          <a:xfrm>
            <a:off x="1116000" y="3877508"/>
            <a:ext cx="73422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 combined weighted loss used for the joint tasks training is given by: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8" name="Google Shape;288;p3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 txBox="1"/>
          <p:nvPr>
            <p:ph type="title"/>
          </p:nvPr>
        </p:nvSpPr>
        <p:spPr>
          <a:xfrm>
            <a:off x="2953650" y="2358325"/>
            <a:ext cx="3236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8" name="Google Shape;298;p3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299" name="Google Shape;299;p3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Subset Creation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1116000" y="1315100"/>
            <a:ext cx="73422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We trained the models in the Google Colab Environment (T4 and A100 GPUs)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Then it was impractical to use the whole RRDataset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We took 1,500 images for each big group:</a:t>
            </a:r>
            <a:endParaRPr sz="2000"/>
          </a:p>
          <a:p>
            <a:pPr indent="-355600" lvl="0" marL="457200" rtl="0" algn="just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original/ai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original/real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redigital/ai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redigital/real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transfer/ai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transfer/real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Then each macro-category is divided into three splits. This grants balance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9" name="Google Shape;309;p3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3"/>
          <p:cNvSpPr txBox="1"/>
          <p:nvPr>
            <p:ph type="title"/>
          </p:nvPr>
        </p:nvSpPr>
        <p:spPr>
          <a:xfrm>
            <a:off x="1875450" y="2065175"/>
            <a:ext cx="53931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Experimental Setup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9" name="Google Shape;319;p3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20" name="Google Shape;320;p3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21" name="Google Shape;321;p34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Experimental Questions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1116000" y="1620300"/>
            <a:ext cx="7342200" cy="3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Does the parallel DFT Stem branch improve real/AI detection?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Does the DFT branch help in recognizing transformations?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Does category classification benefit from representations and embeddings learned for real/Ai detection task?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Does joint multi-head training improve both tasks?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How do different combinations of loss weights affect the trade-off between the two tasks?</a:t>
            </a:r>
            <a:endParaRPr b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0" name="Google Shape;330;p3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31" name="Google Shape;331;p3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32" name="Google Shape;332;p35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5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Starting Checkpoints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35"/>
          <p:cNvSpPr txBox="1"/>
          <p:nvPr/>
        </p:nvSpPr>
        <p:spPr>
          <a:xfrm>
            <a:off x="1116000" y="2267908"/>
            <a:ext cx="73422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Three starting checkpoints used during the experiments:</a:t>
            </a:r>
            <a:endParaRPr sz="2000"/>
          </a:p>
        </p:txBody>
      </p:sp>
      <p:pic>
        <p:nvPicPr>
          <p:cNvPr id="335" name="Google Shape;335;p35" title="Starting Checkpoi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24021"/>
            <a:ext cx="8839199" cy="1693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2" name="Google Shape;342;p36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43" name="Google Shape;343;p36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44" name="Google Shape;344;p36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6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Loss-Weight Ablation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6" name="Google Shape;346;p36" title="loss_weigh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0025"/>
            <a:ext cx="9097124" cy="307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3" name="Google Shape;353;p3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7"/>
          <p:cNvSpPr txBox="1"/>
          <p:nvPr>
            <p:ph type="title"/>
          </p:nvPr>
        </p:nvSpPr>
        <p:spPr>
          <a:xfrm>
            <a:off x="2407650" y="2065175"/>
            <a:ext cx="43287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Model Evaluation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3" name="Google Shape;363;p3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65" name="Google Shape;365;p38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8"/>
          <p:cNvSpPr txBox="1"/>
          <p:nvPr>
            <p:ph type="title"/>
          </p:nvPr>
        </p:nvSpPr>
        <p:spPr>
          <a:xfrm>
            <a:off x="1903050" y="2585896"/>
            <a:ext cx="5337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 1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3" name="Google Shape;373;p3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74" name="Google Shape;374;p3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75" name="Google Shape;375;p39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9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1 (1)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1116000" y="1946612"/>
            <a:ext cx="73422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Single-Head class task training</a:t>
            </a:r>
            <a:endParaRPr b="1"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We compared:</a:t>
            </a:r>
            <a:endParaRPr sz="2000"/>
          </a:p>
          <a:p>
            <a:pPr indent="-355600" lvl="0" marL="457200" rtl="0" algn="just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DRCTConvB model fine-tuned on our Dataset;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it-IT" sz="2000">
                <a:solidFill>
                  <a:srgbClr val="0000FF"/>
                </a:solidFill>
              </a:rPr>
              <a:t>DRCTConvB-DFT </a:t>
            </a:r>
            <a:r>
              <a:rPr lang="it-IT" sz="2000"/>
              <a:t>model fine-tuned on our Dataset.</a:t>
            </a:r>
            <a:endParaRPr sz="2000"/>
          </a:p>
        </p:txBody>
      </p:sp>
      <p:pic>
        <p:nvPicPr>
          <p:cNvPr id="378" name="Google Shape;378;p39" title="tabl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43462"/>
            <a:ext cx="9143999" cy="1304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5" name="Google Shape;385;p4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86" name="Google Shape;386;p4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387" name="Google Shape;387;p40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1 (2)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0"/>
          <p:cNvSpPr txBox="1"/>
          <p:nvPr/>
        </p:nvSpPr>
        <p:spPr>
          <a:xfrm>
            <a:off x="1116000" y="1744467"/>
            <a:ext cx="7342200" cy="18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it-IT" sz="2000"/>
              <a:t>Does the parallel DFT Stem branch improve real/AI detection?</a:t>
            </a:r>
            <a:endParaRPr b="1"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rgbClr val="FF0000"/>
                </a:solidFill>
              </a:rPr>
              <a:t>YES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 outputs of this experiment are the two anticipated checkpoints:</a:t>
            </a:r>
            <a:endParaRPr sz="2000"/>
          </a:p>
        </p:txBody>
      </p:sp>
      <p:pic>
        <p:nvPicPr>
          <p:cNvPr id="390" name="Google Shape;390;p40" title="Starting Checkpoi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44154"/>
            <a:ext cx="9144000" cy="175231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0"/>
          <p:cNvSpPr/>
          <p:nvPr/>
        </p:nvSpPr>
        <p:spPr>
          <a:xfrm>
            <a:off x="130036" y="4752301"/>
            <a:ext cx="8745300" cy="779100"/>
          </a:xfrm>
          <a:prstGeom prst="rect">
            <a:avLst/>
          </a:prstGeom>
          <a:noFill/>
          <a:ln cap="flat" cmpd="sng" w="118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575" lIns="94575" spcFirstLastPara="1" rIns="94575" wrap="square" tIns="9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8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8" name="Google Shape;398;p4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00" name="Google Shape;400;p41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1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1 (3)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1116000" y="1558821"/>
            <a:ext cx="79284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By looking at the AI/Real accuracy for each transformation category, the models perform better in redigital category while perform worse on the transfer category (in particular our proposed model)</a:t>
            </a:r>
            <a:endParaRPr sz="2000"/>
          </a:p>
        </p:txBody>
      </p:sp>
      <p:pic>
        <p:nvPicPr>
          <p:cNvPr id="403" name="Google Shape;403;p41" title="table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36408"/>
            <a:ext cx="9044398" cy="1757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1" title="table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9725" y="4287746"/>
            <a:ext cx="9243725" cy="1796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1" name="Google Shape;411;p4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2"/>
          <p:cNvSpPr txBox="1"/>
          <p:nvPr>
            <p:ph type="title"/>
          </p:nvPr>
        </p:nvSpPr>
        <p:spPr>
          <a:xfrm>
            <a:off x="1903050" y="2585896"/>
            <a:ext cx="5337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 2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1" name="Google Shape;421;p4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422" name="Google Shape;422;p4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23" name="Google Shape;423;p43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3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2 (1)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43"/>
          <p:cNvSpPr txBox="1"/>
          <p:nvPr/>
        </p:nvSpPr>
        <p:spPr>
          <a:xfrm>
            <a:off x="1116000" y="1625316"/>
            <a:ext cx="73422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S</a:t>
            </a:r>
            <a:r>
              <a:rPr b="1" lang="it-IT" sz="2000"/>
              <a:t>emi-Multi-Head category task training s</a:t>
            </a:r>
            <a:r>
              <a:rPr b="1" lang="it-IT" sz="2000"/>
              <a:t>tarting from checkpoints obtained after the previous experiment.</a:t>
            </a:r>
            <a:endParaRPr b="1"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We compared:</a:t>
            </a:r>
            <a:endParaRPr sz="2000"/>
          </a:p>
          <a:p>
            <a:pPr indent="-355600" lvl="0" marL="457200" rtl="0" algn="just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DRCTConvB model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●"/>
            </a:pPr>
            <a:r>
              <a:rPr lang="it-IT" sz="2000">
                <a:solidFill>
                  <a:srgbClr val="0000FF"/>
                </a:solidFill>
              </a:rPr>
              <a:t>DRCTConvB-DFT </a:t>
            </a:r>
            <a:r>
              <a:rPr lang="it-IT" sz="2000"/>
              <a:t>model</a:t>
            </a:r>
            <a:endParaRPr sz="2000"/>
          </a:p>
        </p:txBody>
      </p:sp>
      <p:pic>
        <p:nvPicPr>
          <p:cNvPr id="426" name="Google Shape;426;p43" title="avg_table_8_9_upd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599"/>
            <a:ext cx="9144000" cy="173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434" name="Google Shape;434;p4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35" name="Google Shape;435;p44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4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2 (2)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44"/>
          <p:cNvSpPr txBox="1"/>
          <p:nvPr/>
        </p:nvSpPr>
        <p:spPr>
          <a:xfrm>
            <a:off x="1116000" y="1924929"/>
            <a:ext cx="7604400" cy="22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2. Does the DFT branch help in recognizing transformations?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	</a:t>
            </a:r>
            <a:r>
              <a:rPr b="1" lang="it-IT" sz="2000">
                <a:solidFill>
                  <a:srgbClr val="FF0000"/>
                </a:solidFill>
              </a:rPr>
              <a:t>Yes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From these first two experiments we can confirm that our proposed model is better than the base DRCT detector in both tasks, and in particular frequency-domain informations are especially useful for recognizing transformations.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5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4" name="Google Shape;444;p4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46" name="Google Shape;446;p45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5"/>
          <p:cNvSpPr txBox="1"/>
          <p:nvPr>
            <p:ph type="title"/>
          </p:nvPr>
        </p:nvSpPr>
        <p:spPr>
          <a:xfrm>
            <a:off x="1191000" y="1679550"/>
            <a:ext cx="7019700" cy="28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From now on we will consider only DRCTConvB-DFT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6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4" name="Google Shape;454;p46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6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56" name="Google Shape;456;p46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6"/>
          <p:cNvSpPr txBox="1"/>
          <p:nvPr>
            <p:ph type="title"/>
          </p:nvPr>
        </p:nvSpPr>
        <p:spPr>
          <a:xfrm>
            <a:off x="1903050" y="2585896"/>
            <a:ext cx="53379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 3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4" name="Google Shape;464;p4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465" name="Google Shape;465;p4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66" name="Google Shape;466;p47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7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3 (1)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47"/>
          <p:cNvSpPr txBox="1"/>
          <p:nvPr/>
        </p:nvSpPr>
        <p:spPr>
          <a:xfrm>
            <a:off x="1116000" y="1315100"/>
            <a:ext cx="7416900" cy="3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Single Head category task training</a:t>
            </a:r>
            <a:endParaRPr b="1"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Studied if the category task benefits from representations previously learned for real/AI image detection across transformations</a:t>
            </a:r>
            <a:r>
              <a:rPr lang="it-IT" sz="2000"/>
              <a:t>.</a:t>
            </a:r>
            <a:endParaRPr sz="2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We compared two different starting points </a:t>
            </a: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for</a:t>
            </a: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 </a:t>
            </a:r>
            <a:r>
              <a:rPr lang="it-IT" sz="2000">
                <a:solidFill>
                  <a:srgbClr val="0969DA"/>
                </a:solidFill>
                <a:highlight>
                  <a:srgbClr val="FFFFFF"/>
                </a:highlight>
              </a:rPr>
              <a:t>DRCTConvB-DFT </a:t>
            </a:r>
            <a:r>
              <a:rPr lang="it-IT" sz="2000">
                <a:highlight>
                  <a:srgbClr val="FFFFFF"/>
                </a:highlight>
              </a:rPr>
              <a:t>model</a:t>
            </a: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: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2000"/>
              <a:buChar char="●"/>
            </a:pP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from the DRCT Base Checkpoint;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000"/>
              <a:buChar char="●"/>
            </a:pP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from the DFT Class Task Checkpoint;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469" name="Google Shape;469;p47" title="avg_table_10_11_upd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66173"/>
            <a:ext cx="9144000" cy="152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8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477" name="Google Shape;477;p4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78" name="Google Shape;478;p48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8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3 (2)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48"/>
          <p:cNvSpPr txBox="1"/>
          <p:nvPr/>
        </p:nvSpPr>
        <p:spPr>
          <a:xfrm>
            <a:off x="1116000" y="1958263"/>
            <a:ext cx="76821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3</a:t>
            </a:r>
            <a:r>
              <a:rPr b="1" lang="it-IT" sz="2000"/>
              <a:t>. </a:t>
            </a:r>
            <a:r>
              <a:rPr b="1" lang="it-IT" sz="2000"/>
              <a:t>Does category classification benefit from representations and embeddings learned for real/Ai detection task?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	</a:t>
            </a:r>
            <a:r>
              <a:rPr b="1" lang="it-IT" sz="2000">
                <a:solidFill>
                  <a:srgbClr val="FF0000"/>
                </a:solidFill>
              </a:rPr>
              <a:t>Yes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This motivates the use of a joint multi-head training combined loss.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7" name="Google Shape;487;p4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4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89" name="Google Shape;489;p49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9"/>
          <p:cNvSpPr txBox="1"/>
          <p:nvPr>
            <p:ph type="title"/>
          </p:nvPr>
        </p:nvSpPr>
        <p:spPr>
          <a:xfrm>
            <a:off x="1903050" y="2585900"/>
            <a:ext cx="5443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 4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0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7" name="Google Shape;497;p5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498" name="Google Shape;498;p5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499" name="Google Shape;499;p50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0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4 (1)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50"/>
          <p:cNvSpPr txBox="1"/>
          <p:nvPr/>
        </p:nvSpPr>
        <p:spPr>
          <a:xfrm>
            <a:off x="1116000" y="1913375"/>
            <a:ext cx="7342200" cy="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rgbClr val="1F2328"/>
                </a:solidFill>
                <a:highlight>
                  <a:srgbClr val="FFFFFF"/>
                </a:highlight>
              </a:rPr>
              <a:t>Comparison between joint multi-head training and the corresponding single-head trainings, starting from the same checkpoint (DRCT Base Checkpoint)</a:t>
            </a:r>
            <a:endParaRPr b="1" sz="2000"/>
          </a:p>
        </p:txBody>
      </p:sp>
      <p:pic>
        <p:nvPicPr>
          <p:cNvPr id="502" name="Google Shape;502;p50" title="avg_table_12_13_upda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33691"/>
            <a:ext cx="9144001" cy="1794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9" name="Google Shape;509;p5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10" name="Google Shape;510;p5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11" name="Google Shape;511;p51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1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4 (2)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51"/>
          <p:cNvSpPr txBox="1"/>
          <p:nvPr/>
        </p:nvSpPr>
        <p:spPr>
          <a:xfrm>
            <a:off x="1116000" y="1962171"/>
            <a:ext cx="73422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4</a:t>
            </a:r>
            <a:r>
              <a:rPr b="1" lang="it-IT" sz="2000"/>
              <a:t>. </a:t>
            </a:r>
            <a:r>
              <a:rPr b="1" lang="it-IT" sz="2000"/>
              <a:t>Does joint multi-head training improve both tasks?</a:t>
            </a:r>
            <a:endParaRPr b="1"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	</a:t>
            </a:r>
            <a:r>
              <a:rPr b="1" lang="it-IT" sz="2000">
                <a:solidFill>
                  <a:srgbClr val="FF0000"/>
                </a:solidFill>
              </a:rPr>
              <a:t>Yes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Joint training improved both class and category tasks, suggesting that both tasks can benefit from each other and provide complementary supervision when optimized together.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0" name="Google Shape;520;p52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21" name="Google Shape;521;p52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22" name="Google Shape;522;p52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52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4 (3)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52"/>
          <p:cNvSpPr txBox="1"/>
          <p:nvPr/>
        </p:nvSpPr>
        <p:spPr>
          <a:xfrm>
            <a:off x="1219200" y="1581000"/>
            <a:ext cx="7313700" cy="12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The multi-head model is stronger on real image detection across transformations, while the single-head model performs better on AI images.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525" name="Google Shape;525;p52" title="table_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34428"/>
            <a:ext cx="9144003" cy="2736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2" name="Google Shape;532;p53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3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34" name="Google Shape;534;p53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3"/>
          <p:cNvSpPr txBox="1"/>
          <p:nvPr>
            <p:ph type="title"/>
          </p:nvPr>
        </p:nvSpPr>
        <p:spPr>
          <a:xfrm>
            <a:off x="1903050" y="2585900"/>
            <a:ext cx="54435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Experiment 5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4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2" name="Google Shape;542;p54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43" name="Google Shape;543;p54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44" name="Google Shape;544;p54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4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5 (1)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54"/>
          <p:cNvSpPr txBox="1"/>
          <p:nvPr/>
        </p:nvSpPr>
        <p:spPr>
          <a:xfrm>
            <a:off x="1116000" y="1315100"/>
            <a:ext cx="73422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Studied how the relative loss weights affect the trade-off between Real/AI detection and category classification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1F2328"/>
                </a:solidFill>
                <a:highlight>
                  <a:srgbClr val="FFFFFF"/>
                </a:highlight>
              </a:rPr>
              <a:t>We kept w(AI/R)=1 fixed and varied w(cat).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547" name="Google Shape;547;p54" title="table_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67254"/>
            <a:ext cx="9144000" cy="25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5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4" name="Google Shape;554;p55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55" name="Google Shape;555;p55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56" name="Google Shape;556;p55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5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5 (2)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55"/>
          <p:cNvSpPr txBox="1"/>
          <p:nvPr/>
        </p:nvSpPr>
        <p:spPr>
          <a:xfrm>
            <a:off x="1116000" y="1592079"/>
            <a:ext cx="73422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-IT" sz="2000"/>
              <a:t>5. How do different combinations of loss weights affect the trade-off between the two tasks?</a:t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rgbClr val="FF0000"/>
                </a:solidFill>
                <a:highlight>
                  <a:srgbClr val="FFFFFF"/>
                </a:highlight>
              </a:rPr>
              <a:t>The differences between configurations are not extremely large, but we can extract these practical guidelines:</a:t>
            </a:r>
            <a:endParaRPr b="1"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559" name="Google Shape;559;p55" title="table_recommend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12" y="3852962"/>
            <a:ext cx="8382275" cy="16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6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66" name="Google Shape;566;p56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67" name="Google Shape;567;p56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68" name="Google Shape;568;p56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6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5 (3)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0" name="Google Shape;570;p56" title="Graph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2671"/>
            <a:ext cx="9144000" cy="500892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6"/>
          <p:cNvSpPr txBox="1"/>
          <p:nvPr/>
        </p:nvSpPr>
        <p:spPr>
          <a:xfrm>
            <a:off x="12225" y="5564023"/>
            <a:ext cx="91317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/>
              <a:t>The marked epoch shows when the category loss reaches 0.20.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7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8" name="Google Shape;578;p57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79" name="Google Shape;579;p57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80" name="Google Shape;580;p57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7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5 (4)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57"/>
          <p:cNvSpPr txBox="1"/>
          <p:nvPr/>
        </p:nvSpPr>
        <p:spPr>
          <a:xfrm>
            <a:off x="1116000" y="2212512"/>
            <a:ext cx="7342200" cy="2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Regardless of the nominal weight assigned to the category loss term, it follows the learning dynamics of the real/AI detection task.</a:t>
            </a:r>
            <a:endParaRPr sz="2000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This confirms again that the category task strongly depends on the shared representation learned with the class task, and it is not driven only by its explicit loss.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8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9" name="Google Shape;589;p58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590" name="Google Shape;590;p58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591" name="Google Shape;591;p58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8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Experiment 5 (5)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784400" y="1550641"/>
            <a:ext cx="23721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/>
              <a:t>Across weighting configurations there is a recurrent pattern: models detect AI-gen images better after redigital and transfer transf., but this comes with a drop in real-image detection for those categories.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</p:txBody>
      </p:sp>
      <p:pic>
        <p:nvPicPr>
          <p:cNvPr id="594" name="Google Shape;594;p58" title="table_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499" y="1111875"/>
            <a:ext cx="5987500" cy="49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9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1" name="Google Shape;601;p59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602" name="Google Shape;602;p59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603" name="Google Shape;603;p59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9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59"/>
          <p:cNvSpPr txBox="1"/>
          <p:nvPr/>
        </p:nvSpPr>
        <p:spPr>
          <a:xfrm>
            <a:off x="1116000" y="2234676"/>
            <a:ext cx="7342200" cy="25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Our proposed model, DRCTConvB with a parallel DFT Stem, has generally better performance than the base DRCTConvB in the detection of AI/Real Images and in the classification of post-processing transformations.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it-IT" sz="2000"/>
              <a:t>Jointly training the two tasks can achieve better results in detection of AI images and post-processing classification compared with the corresponding single-task models.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0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2" name="Google Shape;612;p60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60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/46</a:t>
            </a:r>
            <a:endParaRPr/>
          </a:p>
        </p:txBody>
      </p:sp>
      <p:sp>
        <p:nvSpPr>
          <p:cNvPr id="614" name="Google Shape;614;p60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0"/>
          <p:cNvSpPr txBox="1"/>
          <p:nvPr>
            <p:ph type="title"/>
          </p:nvPr>
        </p:nvSpPr>
        <p:spPr>
          <a:xfrm>
            <a:off x="1219200" y="2358325"/>
            <a:ext cx="72390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latin typeface="Montserrat"/>
                <a:ea typeface="Montserrat"/>
                <a:cs typeface="Montserrat"/>
                <a:sym typeface="Montserrat"/>
              </a:rPr>
              <a:t>Thank you for your attention!</a:t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"/>
          <p:cNvSpPr txBox="1"/>
          <p:nvPr>
            <p:ph idx="10" type="dt"/>
          </p:nvPr>
        </p:nvSpPr>
        <p:spPr>
          <a:xfrm>
            <a:off x="40578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it-IT"/>
              <a:t>Course Computer 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2" name="Google Shape;622;p61"/>
          <p:cNvSpPr txBox="1"/>
          <p:nvPr>
            <p:ph idx="11" type="ftr"/>
          </p:nvPr>
        </p:nvSpPr>
        <p:spPr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it-IT" sz="1200">
                <a:latin typeface="Roboto"/>
                <a:ea typeface="Roboto"/>
                <a:cs typeface="Roboto"/>
                <a:sym typeface="Roboto"/>
              </a:rPr>
              <a:t>Luca Del Signore 2096442</a:t>
            </a:r>
            <a:endParaRPr sz="1400"/>
          </a:p>
        </p:txBody>
      </p:sp>
      <p:sp>
        <p:nvSpPr>
          <p:cNvPr id="623" name="Google Shape;623;p61"/>
          <p:cNvSpPr txBox="1"/>
          <p:nvPr>
            <p:ph idx="12" type="sldNum"/>
          </p:nvPr>
        </p:nvSpPr>
        <p:spPr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-IT"/>
              <a:t>46/</a:t>
            </a: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24" name="Google Shape;624;p61"/>
          <p:cNvSpPr/>
          <p:nvPr/>
        </p:nvSpPr>
        <p:spPr>
          <a:xfrm>
            <a:off x="1954213" y="630238"/>
            <a:ext cx="18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1"/>
          <p:cNvSpPr txBox="1"/>
          <p:nvPr>
            <p:ph type="title"/>
          </p:nvPr>
        </p:nvSpPr>
        <p:spPr>
          <a:xfrm>
            <a:off x="1116000" y="450000"/>
            <a:ext cx="74169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61"/>
          <p:cNvSpPr txBox="1"/>
          <p:nvPr/>
        </p:nvSpPr>
        <p:spPr>
          <a:xfrm>
            <a:off x="0" y="1315100"/>
            <a:ext cx="9144000" cy="4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it-IT" sz="1700"/>
              <a:t>C. Li, X. Wang, M. Li, B. Miao, P. Sun, Y. Zhang, X. Ji, and Y. Zhu, “Bridging the Gap Between Ideal and Real-world Evaluation: Benchmarking AI-Generated Image Detection in Challenging Scenarios,” arXiv preprint arXiv:2509.09172, 2025.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it-IT" sz="1700"/>
              <a:t>B. Chen, J. Zeng, J. Yang, and R. Yang, “DRCT: Diffusion Reconstruction Contrastive Training towards Universal Detection of Diffusion Generated Images,” in Proceedings of the 41st International Conference on Machine Learning (ICML), vol. 235, pp. 7621–7639, 2024.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it-IT" sz="1700"/>
              <a:t>Z. Liu, H. Mao, C.-Y. Wu, C. Feichtenhofer, T. Darrell, and S. Xie, “A ConvNet for the 2020s,” arXiv preprint arXiv:2201.03545, 2022.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it-IT" sz="1700"/>
              <a:t>D. Karageorgiou, S. Papadopoulos, I. Kompatsiaris, and E. Gavves, “Any-Resolution AI-Generated Image Detection by Spectral Learning,” in Proceedings of the IEEE/CVF Conference on Computer Vision and Pattern Recognition (CVPR), pp. 18706–18717, 2025.</a:t>
            </a:r>
            <a:endParaRPr sz="1700"/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it-IT" sz="1700"/>
              <a:t>I.-J. Yu, S.-H. Nam, W. Ahn, M.-J. Kwon, and H.-K. Lee, “Manipulation Classification for JPEG Images Using Multi-Domain Features,” IEEE Access, vol. 8, pp. 210837–210854, 2020.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